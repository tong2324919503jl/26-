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68" r:id="rId4"/>
    <p:sldId id="269" r:id="rId5"/>
    <p:sldId id="265" r:id="rId6"/>
    <p:sldId id="270" r:id="rId7"/>
    <p:sldId id="271" r:id="rId8"/>
    <p:sldId id="272" r:id="rId9"/>
    <p:sldId id="273" r:id="rId10"/>
    <p:sldId id="264" r:id="rId11"/>
    <p:sldId id="266" r:id="rId12"/>
    <p:sldId id="277" r:id="rId13"/>
    <p:sldId id="279" r:id="rId14"/>
    <p:sldId id="280" r:id="rId15"/>
    <p:sldId id="27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snapToObjects="1" showGuides="1">
      <p:cViewPr varScale="1">
        <p:scale>
          <a:sx n="108" d="100"/>
          <a:sy n="108" d="100"/>
        </p:scale>
        <p:origin x="170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0DE6AA88-6B67-5348-BADA-BEE672C4F78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E367E-3CE6-794B-A0E4-687ED7B8A11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4" name="Date Placeholder 3"/>
          <p:cNvSpPr>
            <a:spLocks noGrp="1"/>
          </p:cNvSpPr>
          <p:nvPr>
            <p:ph type="dt" sz="half" idx="10"/>
          </p:nvPr>
        </p:nvSpPr>
        <p:spPr/>
        <p:txBody>
          <a:bodyPr/>
          <a:lstStyle/>
          <a:p>
            <a:fld id="{0DE6AA88-6B67-5348-BADA-BEE672C4F78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E367E-3CE6-794B-A0E4-687ED7B8A11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Click to edit Master text styles</a:t>
            </a:r>
            <a:endParaRPr lang="en-US" altLang="zh-CN"/>
          </a:p>
        </p:txBody>
      </p:sp>
      <p:sp>
        <p:nvSpPr>
          <p:cNvPr id="4" name="Date Placeholder 3"/>
          <p:cNvSpPr>
            <a:spLocks noGrp="1"/>
          </p:cNvSpPr>
          <p:nvPr>
            <p:ph type="dt" sz="half" idx="10"/>
          </p:nvPr>
        </p:nvSpPr>
        <p:spPr/>
        <p:txBody>
          <a:bodyPr/>
          <a:lstStyle/>
          <a:p>
            <a:fld id="{0DE6AA88-6B67-5348-BADA-BEE672C4F78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E367E-3CE6-794B-A0E4-687ED7B8A11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5" name="Date Placeholder 4"/>
          <p:cNvSpPr>
            <a:spLocks noGrp="1"/>
          </p:cNvSpPr>
          <p:nvPr>
            <p:ph type="dt" sz="half" idx="10"/>
          </p:nvPr>
        </p:nvSpPr>
        <p:spPr/>
        <p:txBody>
          <a:bodyPr/>
          <a:lstStyle/>
          <a:p>
            <a:fld id="{0DE6AA88-6B67-5348-BADA-BEE672C4F78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AE367E-3CE6-794B-A0E4-687ED7B8A11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7" name="Date Placeholder 6"/>
          <p:cNvSpPr>
            <a:spLocks noGrp="1"/>
          </p:cNvSpPr>
          <p:nvPr>
            <p:ph type="dt" sz="half" idx="10"/>
          </p:nvPr>
        </p:nvSpPr>
        <p:spPr/>
        <p:txBody>
          <a:bodyPr/>
          <a:lstStyle/>
          <a:p>
            <a:fld id="{0DE6AA88-6B67-5348-BADA-BEE672C4F78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AE367E-3CE6-794B-A0E4-687ED7B8A11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Date Placeholder 2"/>
          <p:cNvSpPr>
            <a:spLocks noGrp="1"/>
          </p:cNvSpPr>
          <p:nvPr>
            <p:ph type="dt" sz="half" idx="10"/>
          </p:nvPr>
        </p:nvSpPr>
        <p:spPr/>
        <p:txBody>
          <a:bodyPr/>
          <a:lstStyle/>
          <a:p>
            <a:fld id="{0DE6AA88-6B67-5348-BADA-BEE672C4F78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AE367E-3CE6-794B-A0E4-687ED7B8A11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E6AA88-6B67-5348-BADA-BEE672C4F78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AE367E-3CE6-794B-A0E4-687ED7B8A11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zh-CN"/>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0DE6AA88-6B67-5348-BADA-BEE672C4F78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AE367E-3CE6-794B-A0E4-687ED7B8A11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CN"/>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0DE6AA88-6B67-5348-BADA-BEE672C4F78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AE367E-3CE6-794B-A0E4-687ED7B8A11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4" name="Date Placeholder 3"/>
          <p:cNvSpPr>
            <a:spLocks noGrp="1"/>
          </p:cNvSpPr>
          <p:nvPr>
            <p:ph type="dt" sz="half" idx="10"/>
          </p:nvPr>
        </p:nvSpPr>
        <p:spPr/>
        <p:txBody>
          <a:bodyPr/>
          <a:lstStyle/>
          <a:p>
            <a:fld id="{0DE6AA88-6B67-5348-BADA-BEE672C4F78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E367E-3CE6-794B-A0E4-687ED7B8A11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4" name="Date Placeholder 3"/>
          <p:cNvSpPr>
            <a:spLocks noGrp="1"/>
          </p:cNvSpPr>
          <p:nvPr>
            <p:ph type="dt" sz="half" idx="10"/>
          </p:nvPr>
        </p:nvSpPr>
        <p:spPr/>
        <p:txBody>
          <a:bodyPr/>
          <a:lstStyle/>
          <a:p>
            <a:fld id="{0DE6AA88-6B67-5348-BADA-BEE672C4F78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E367E-3CE6-794B-A0E4-687ED7B8A11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E6AA88-6B67-5348-BADA-BEE672C4F78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AE367E-3CE6-794B-A0E4-687ED7B8A11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cumcm.cnki.ne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CN" dirty="0"/>
              <a:t>2026</a:t>
            </a:r>
            <a:r>
              <a:rPr lang="zh-CN" altLang="en-US" dirty="0"/>
              <a:t>年北京赛区注意事项</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全国大学数学建模竞赛比赛时间</a:t>
            </a:r>
            <a:endParaRPr lang="zh-CN" altLang="en-US" dirty="0"/>
          </a:p>
        </p:txBody>
      </p:sp>
      <p:sp>
        <p:nvSpPr>
          <p:cNvPr id="3" name="内容占位符 2"/>
          <p:cNvSpPr>
            <a:spLocks noGrp="1"/>
          </p:cNvSpPr>
          <p:nvPr>
            <p:ph idx="1"/>
          </p:nvPr>
        </p:nvSpPr>
        <p:spPr>
          <a:xfrm>
            <a:off x="457200" y="1600200"/>
            <a:ext cx="8229600" cy="4759503"/>
          </a:xfrm>
        </p:spPr>
        <p:txBody>
          <a:bodyPr>
            <a:normAutofit fontScale="92500" lnSpcReduction="10000"/>
          </a:bodyPr>
          <a:lstStyle/>
          <a:p>
            <a:r>
              <a:rPr lang="en-US" altLang="zh-CN" dirty="0"/>
              <a:t>2026</a:t>
            </a:r>
            <a:r>
              <a:rPr lang="zh-CN" altLang="en-US" dirty="0"/>
              <a:t>年全国大学生数学建模竞赛开始时间：</a:t>
            </a:r>
            <a:r>
              <a:rPr lang="en-US" altLang="zh-CN" dirty="0"/>
              <a:t>2026</a:t>
            </a:r>
            <a:r>
              <a:rPr lang="zh-CN" altLang="en-US" dirty="0"/>
              <a:t>年</a:t>
            </a:r>
            <a:r>
              <a:rPr lang="en-US" altLang="zh-CN" dirty="0"/>
              <a:t>9</a:t>
            </a:r>
            <a:r>
              <a:rPr lang="zh-CN" altLang="en-US" dirty="0"/>
              <a:t>月</a:t>
            </a:r>
            <a:r>
              <a:rPr lang="en-US" altLang="zh-CN" dirty="0"/>
              <a:t>10</a:t>
            </a:r>
            <a:r>
              <a:rPr lang="zh-CN" altLang="en-US" dirty="0"/>
              <a:t>日</a:t>
            </a:r>
            <a:r>
              <a:rPr lang="en-US" altLang="zh-CN" dirty="0"/>
              <a:t>18</a:t>
            </a:r>
            <a:r>
              <a:rPr lang="zh-CN" altLang="en-US" dirty="0"/>
              <a:t>：</a:t>
            </a:r>
            <a:r>
              <a:rPr lang="en-US" altLang="zh-CN" dirty="0"/>
              <a:t>00</a:t>
            </a:r>
            <a:r>
              <a:rPr lang="zh-CN" altLang="en-US" dirty="0"/>
              <a:t>。</a:t>
            </a:r>
            <a:endParaRPr lang="en-US" altLang="zh-CN" dirty="0"/>
          </a:p>
          <a:p>
            <a:r>
              <a:rPr lang="zh-CN" altLang="en-US" dirty="0"/>
              <a:t>结束时间：</a:t>
            </a:r>
            <a:r>
              <a:rPr lang="en-US" altLang="zh-CN" dirty="0"/>
              <a:t>2026</a:t>
            </a:r>
            <a:r>
              <a:rPr lang="zh-CN" altLang="en-US" dirty="0"/>
              <a:t>年</a:t>
            </a:r>
            <a:r>
              <a:rPr lang="en-US" altLang="zh-CN" dirty="0"/>
              <a:t>9</a:t>
            </a:r>
            <a:r>
              <a:rPr lang="zh-CN" altLang="en-US" dirty="0"/>
              <a:t>月</a:t>
            </a:r>
            <a:r>
              <a:rPr lang="en-US" altLang="zh-CN" dirty="0"/>
              <a:t>13</a:t>
            </a:r>
            <a:r>
              <a:rPr lang="zh-CN" altLang="en-US" dirty="0"/>
              <a:t>日</a:t>
            </a:r>
            <a:r>
              <a:rPr lang="en-US" altLang="zh-CN" dirty="0"/>
              <a:t>20</a:t>
            </a:r>
            <a:r>
              <a:rPr lang="zh-CN" altLang="en-US" dirty="0"/>
              <a:t>：</a:t>
            </a:r>
            <a:r>
              <a:rPr lang="en-US" altLang="zh-CN" dirty="0"/>
              <a:t>00</a:t>
            </a:r>
            <a:endParaRPr lang="en-US" altLang="zh-CN" dirty="0"/>
          </a:p>
          <a:p>
            <a:pPr lvl="0"/>
            <a:r>
              <a:rPr lang="en-US" altLang="zh-CN" dirty="0"/>
              <a:t>2026</a:t>
            </a:r>
            <a:r>
              <a:rPr lang="zh-CN" altLang="zh-CN" dirty="0"/>
              <a:t>年竞赛本科组共计三题（</a:t>
            </a:r>
            <a:r>
              <a:rPr lang="en-US" altLang="zh-CN" dirty="0"/>
              <a:t>A</a:t>
            </a:r>
            <a:r>
              <a:rPr lang="zh-CN" altLang="zh-CN" dirty="0"/>
              <a:t>、</a:t>
            </a:r>
            <a:r>
              <a:rPr lang="en-US" altLang="zh-CN" dirty="0"/>
              <a:t>B</a:t>
            </a:r>
            <a:r>
              <a:rPr lang="zh-CN" altLang="zh-CN" dirty="0"/>
              <a:t>、</a:t>
            </a:r>
            <a:r>
              <a:rPr lang="en-US" altLang="zh-CN" dirty="0"/>
              <a:t>C</a:t>
            </a:r>
            <a:r>
              <a:rPr lang="zh-CN" altLang="zh-CN" dirty="0"/>
              <a:t>）；</a:t>
            </a:r>
            <a:r>
              <a:rPr lang="zh-CN" altLang="en-US" dirty="0"/>
              <a:t>高职高专</a:t>
            </a:r>
            <a:r>
              <a:rPr lang="zh-CN" altLang="zh-CN" dirty="0"/>
              <a:t>组仍为两题（</a:t>
            </a:r>
            <a:r>
              <a:rPr lang="en-US" altLang="zh-CN" dirty="0"/>
              <a:t>D</a:t>
            </a:r>
            <a:r>
              <a:rPr lang="zh-CN" altLang="zh-CN" dirty="0"/>
              <a:t>、</a:t>
            </a:r>
            <a:r>
              <a:rPr lang="en-US" altLang="zh-CN" dirty="0"/>
              <a:t>E</a:t>
            </a:r>
            <a:r>
              <a:rPr lang="zh-CN" altLang="zh-CN" dirty="0"/>
              <a:t>）。</a:t>
            </a:r>
            <a:endParaRPr lang="en-US" altLang="zh-CN" dirty="0"/>
          </a:p>
          <a:p>
            <a:r>
              <a:rPr lang="zh-CN" altLang="en-US" dirty="0"/>
              <a:t>开赛后，</a:t>
            </a:r>
            <a:r>
              <a:rPr lang="zh-CN" altLang="zh-CN" dirty="0"/>
              <a:t>报名顺序排在第一位的学生</a:t>
            </a:r>
            <a:r>
              <a:rPr lang="zh-CN" altLang="en-US" dirty="0"/>
              <a:t>负责从全国管理系统 </a:t>
            </a:r>
            <a:r>
              <a:rPr lang="en-US" altLang="zh-CN" u="sng" dirty="0">
                <a:hlinkClick r:id="rId1"/>
              </a:rPr>
              <a:t>http://cumcm.cnki.net</a:t>
            </a:r>
            <a:r>
              <a:rPr lang="en-US" altLang="zh-CN" dirty="0"/>
              <a:t> </a:t>
            </a:r>
            <a:r>
              <a:rPr lang="zh-CN" altLang="en-US" dirty="0"/>
              <a:t>下载生成</a:t>
            </a:r>
            <a:r>
              <a:rPr lang="en-US" altLang="zh-CN" dirty="0"/>
              <a:t>MD5</a:t>
            </a:r>
            <a:r>
              <a:rPr lang="zh-CN" altLang="en-US" dirty="0"/>
              <a:t>码的客户端软件。请仔细阅读软件使用说明。（</a:t>
            </a:r>
            <a:r>
              <a:rPr lang="zh-CN" altLang="zh-CN" dirty="0"/>
              <a:t>客户端软件只能从全国系统下载，不要从任何第三方网站下载。</a:t>
            </a:r>
            <a:r>
              <a:rPr lang="zh-CN" altLang="en-US" dirty="0"/>
              <a:t>）</a:t>
            </a:r>
            <a:endParaRPr lang="en-US" altLang="zh-CN" dirty="0"/>
          </a:p>
          <a:p>
            <a:pPr lvl="0"/>
            <a:endParaRPr lang="zh-CN" altLang="zh-CN" dirty="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全国系统论文提交说明</a:t>
            </a:r>
            <a:endParaRPr lang="zh-CN" altLang="en-US" dirty="0"/>
          </a:p>
        </p:txBody>
      </p:sp>
      <p:sp>
        <p:nvSpPr>
          <p:cNvPr id="3" name="内容占位符 2"/>
          <p:cNvSpPr>
            <a:spLocks noGrp="1"/>
          </p:cNvSpPr>
          <p:nvPr>
            <p:ph idx="1"/>
          </p:nvPr>
        </p:nvSpPr>
        <p:spPr>
          <a:xfrm>
            <a:off x="457200" y="1600200"/>
            <a:ext cx="8229600" cy="4756355"/>
          </a:xfrm>
        </p:spPr>
        <p:txBody>
          <a:bodyPr>
            <a:noAutofit/>
          </a:bodyPr>
          <a:lstStyle/>
          <a:p>
            <a:r>
              <a:rPr lang="zh-CN" altLang="zh-CN" sz="2000" dirty="0"/>
              <a:t>论文完成后，</a:t>
            </a:r>
            <a:r>
              <a:rPr lang="zh-CN" altLang="en-US" sz="2000" dirty="0"/>
              <a:t>报名顺序排在第一位的学生负责</a:t>
            </a:r>
            <a:r>
              <a:rPr lang="zh-CN" altLang="zh-CN" sz="2000" dirty="0"/>
              <a:t>使用客户端软件分别生成论文和支撑材料的两个</a:t>
            </a:r>
            <a:r>
              <a:rPr lang="en-US" altLang="zh-CN" sz="2000" dirty="0"/>
              <a:t>MD5</a:t>
            </a:r>
            <a:r>
              <a:rPr lang="zh-CN" altLang="zh-CN" sz="2000" dirty="0"/>
              <a:t>码</a:t>
            </a:r>
            <a:r>
              <a:rPr lang="zh-CN" altLang="en-US" sz="2000" dirty="0"/>
              <a:t>。</a:t>
            </a:r>
            <a:endParaRPr lang="en-US" altLang="zh-CN" sz="2000" dirty="0"/>
          </a:p>
          <a:p>
            <a:pPr lvl="0"/>
            <a:r>
              <a:rPr lang="en-US" altLang="zh-CN" sz="2000" dirty="0"/>
              <a:t>9</a:t>
            </a:r>
            <a:r>
              <a:rPr lang="zh-CN" altLang="en-US" sz="2000" dirty="0"/>
              <a:t>月</a:t>
            </a:r>
            <a:r>
              <a:rPr lang="en-US" altLang="zh-CN" sz="2000" dirty="0"/>
              <a:t>10</a:t>
            </a:r>
            <a:r>
              <a:rPr lang="zh-CN" altLang="zh-CN" sz="2000" dirty="0"/>
              <a:t>日</a:t>
            </a:r>
            <a:r>
              <a:rPr lang="en-US" altLang="zh-CN" sz="2000" dirty="0"/>
              <a:t>18:00</a:t>
            </a:r>
            <a:r>
              <a:rPr lang="zh-CN" altLang="zh-CN" sz="2000" dirty="0"/>
              <a:t>至</a:t>
            </a:r>
            <a:r>
              <a:rPr lang="en-US" altLang="zh-CN" sz="2000" dirty="0"/>
              <a:t>9</a:t>
            </a:r>
            <a:r>
              <a:rPr lang="zh-CN" altLang="en-US" sz="2000" dirty="0"/>
              <a:t>月</a:t>
            </a:r>
            <a:r>
              <a:rPr lang="en-US" altLang="zh-CN" sz="2000" dirty="0"/>
              <a:t>13</a:t>
            </a:r>
            <a:r>
              <a:rPr lang="zh-CN" altLang="zh-CN" sz="2000" dirty="0"/>
              <a:t>日</a:t>
            </a:r>
            <a:r>
              <a:rPr lang="en-US" altLang="zh-CN" sz="2000" dirty="0"/>
              <a:t>20:00</a:t>
            </a:r>
            <a:r>
              <a:rPr lang="zh-CN" altLang="zh-CN" sz="2000" dirty="0"/>
              <a:t>之间可多次上传</a:t>
            </a:r>
            <a:r>
              <a:rPr lang="en-US" altLang="zh-CN" sz="2000" dirty="0"/>
              <a:t>MD5</a:t>
            </a:r>
            <a:r>
              <a:rPr lang="zh-CN" altLang="zh-CN" sz="2000" dirty="0"/>
              <a:t>码</a:t>
            </a:r>
            <a:r>
              <a:rPr lang="zh-CN" altLang="en-US" sz="2000" dirty="0"/>
              <a:t>。</a:t>
            </a:r>
            <a:endParaRPr lang="zh-CN" altLang="zh-CN" sz="2000" dirty="0"/>
          </a:p>
          <a:p>
            <a:r>
              <a:rPr lang="zh-CN" altLang="zh-CN" sz="2000" dirty="0"/>
              <a:t>生成</a:t>
            </a:r>
            <a:r>
              <a:rPr lang="en-US" altLang="zh-CN" sz="2000" dirty="0"/>
              <a:t>MD5</a:t>
            </a:r>
            <a:r>
              <a:rPr lang="zh-CN" altLang="zh-CN" sz="2000" dirty="0"/>
              <a:t>码后，只要对电子文件进行了打开保存操作（含自动保存），</a:t>
            </a:r>
            <a:r>
              <a:rPr lang="en-US" altLang="zh-CN" sz="2000" dirty="0"/>
              <a:t>MD5</a:t>
            </a:r>
            <a:r>
              <a:rPr lang="zh-CN" altLang="zh-CN" sz="2000" dirty="0"/>
              <a:t>码都将发生改变，需重新生成上传</a:t>
            </a:r>
            <a:r>
              <a:rPr lang="en-US" altLang="zh-CN" sz="2000" dirty="0"/>
              <a:t>MD5</a:t>
            </a:r>
            <a:r>
              <a:rPr lang="zh-CN" altLang="zh-CN" sz="2000" dirty="0"/>
              <a:t>码，否则影响最后的论文上传。</a:t>
            </a:r>
            <a:endParaRPr lang="en-US" altLang="zh-CN" sz="2000" dirty="0"/>
          </a:p>
          <a:p>
            <a:r>
              <a:rPr lang="en-US" altLang="zh-CN" sz="2000" dirty="0">
                <a:highlight>
                  <a:srgbClr val="FFFF00"/>
                </a:highlight>
              </a:rPr>
              <a:t>2026</a:t>
            </a:r>
            <a:r>
              <a:rPr lang="zh-CN" altLang="en-US" sz="2000" dirty="0">
                <a:highlight>
                  <a:srgbClr val="FFFF00"/>
                </a:highlight>
              </a:rPr>
              <a:t>年</a:t>
            </a:r>
            <a:r>
              <a:rPr lang="en-US" altLang="zh-CN" sz="2000" dirty="0">
                <a:highlight>
                  <a:srgbClr val="FFFF00"/>
                </a:highlight>
              </a:rPr>
              <a:t>9</a:t>
            </a:r>
            <a:r>
              <a:rPr lang="zh-CN" altLang="en-US" sz="2000" dirty="0">
                <a:highlight>
                  <a:srgbClr val="FFFF00"/>
                </a:highlight>
              </a:rPr>
              <a:t>月</a:t>
            </a:r>
            <a:r>
              <a:rPr lang="en-US" altLang="zh-CN" sz="2000" dirty="0">
                <a:highlight>
                  <a:srgbClr val="FFFF00"/>
                </a:highlight>
              </a:rPr>
              <a:t>13</a:t>
            </a:r>
            <a:r>
              <a:rPr lang="zh-CN" altLang="en-US" sz="2000" dirty="0">
                <a:highlight>
                  <a:srgbClr val="FFFF00"/>
                </a:highlight>
              </a:rPr>
              <a:t>日</a:t>
            </a:r>
            <a:r>
              <a:rPr lang="en-US" altLang="zh-CN" sz="2000" dirty="0">
                <a:highlight>
                  <a:srgbClr val="FFFF00"/>
                </a:highlight>
              </a:rPr>
              <a:t>20</a:t>
            </a:r>
            <a:r>
              <a:rPr lang="zh-CN" altLang="en-US" sz="2000" dirty="0">
                <a:highlight>
                  <a:srgbClr val="FFFF00"/>
                </a:highlight>
              </a:rPr>
              <a:t>：</a:t>
            </a:r>
            <a:r>
              <a:rPr lang="en-US" altLang="zh-CN" sz="2000" dirty="0">
                <a:highlight>
                  <a:srgbClr val="FFFF00"/>
                </a:highlight>
              </a:rPr>
              <a:t>30</a:t>
            </a:r>
            <a:r>
              <a:rPr lang="zh-CN" altLang="en-US" sz="2000" dirty="0">
                <a:highlight>
                  <a:srgbClr val="FFFF00"/>
                </a:highlight>
              </a:rPr>
              <a:t>至</a:t>
            </a:r>
            <a:r>
              <a:rPr lang="en-US" altLang="zh-CN" sz="2000" dirty="0">
                <a:highlight>
                  <a:srgbClr val="FFFF00"/>
                </a:highlight>
              </a:rPr>
              <a:t>9</a:t>
            </a:r>
            <a:r>
              <a:rPr lang="zh-CN" altLang="en-US" sz="2000" dirty="0">
                <a:highlight>
                  <a:srgbClr val="FFFF00"/>
                </a:highlight>
              </a:rPr>
              <a:t>月</a:t>
            </a:r>
            <a:r>
              <a:rPr lang="en-US" altLang="zh-CN" sz="2000" dirty="0">
                <a:highlight>
                  <a:srgbClr val="FFFF00"/>
                </a:highlight>
              </a:rPr>
              <a:t>14</a:t>
            </a:r>
            <a:r>
              <a:rPr lang="zh-CN" altLang="en-US" sz="2000" dirty="0">
                <a:highlight>
                  <a:srgbClr val="FFFF00"/>
                </a:highlight>
              </a:rPr>
              <a:t>日</a:t>
            </a:r>
            <a:r>
              <a:rPr lang="en-US" altLang="zh-CN" sz="2000" dirty="0">
                <a:highlight>
                  <a:srgbClr val="FFFF00"/>
                </a:highlight>
              </a:rPr>
              <a:t>14</a:t>
            </a:r>
            <a:r>
              <a:rPr lang="zh-CN" altLang="en-US" sz="2000" dirty="0">
                <a:highlight>
                  <a:srgbClr val="FFFF00"/>
                </a:highlight>
              </a:rPr>
              <a:t>：</a:t>
            </a:r>
            <a:r>
              <a:rPr lang="en-US" altLang="zh-CN" sz="2000" dirty="0">
                <a:highlight>
                  <a:srgbClr val="FFFF00"/>
                </a:highlight>
              </a:rPr>
              <a:t>00</a:t>
            </a:r>
            <a:r>
              <a:rPr lang="zh-CN" altLang="en-US" sz="2000" dirty="0"/>
              <a:t>参赛队使用客户端软件完成论文和支撑材料的上传工作。</a:t>
            </a:r>
            <a:endParaRPr lang="en-US" altLang="zh-CN" sz="2000" dirty="0"/>
          </a:p>
          <a:p>
            <a:r>
              <a:rPr lang="zh-CN" altLang="en-US" sz="2000" dirty="0"/>
              <a:t>参赛论文：参赛论文不能包含承诺书；论文文件格式只能用</a:t>
            </a:r>
            <a:r>
              <a:rPr lang="en-US" altLang="zh-CN" sz="2000" dirty="0"/>
              <a:t>PDF</a:t>
            </a:r>
            <a:r>
              <a:rPr lang="zh-CN" altLang="en-US" sz="2000" dirty="0"/>
              <a:t>或</a:t>
            </a:r>
            <a:r>
              <a:rPr lang="en-US" altLang="zh-CN" sz="2000" dirty="0"/>
              <a:t>Word</a:t>
            </a:r>
            <a:r>
              <a:rPr lang="zh-CN" altLang="en-US" sz="2000" dirty="0"/>
              <a:t>格式之一（建议用</a:t>
            </a:r>
            <a:r>
              <a:rPr lang="en-US" altLang="zh-CN" sz="2000" dirty="0"/>
              <a:t>PDF</a:t>
            </a:r>
            <a:r>
              <a:rPr lang="zh-CN" altLang="en-US" sz="2000" dirty="0"/>
              <a:t>格式），不要压缩。</a:t>
            </a:r>
            <a:r>
              <a:rPr lang="zh-CN" altLang="en-US" sz="1800" dirty="0">
                <a:solidFill>
                  <a:srgbClr val="FF0000"/>
                </a:solidFill>
              </a:rPr>
              <a:t>文件大小不超过</a:t>
            </a:r>
            <a:r>
              <a:rPr lang="en-US" altLang="zh-CN" sz="1800" dirty="0">
                <a:solidFill>
                  <a:srgbClr val="FF0000"/>
                </a:solidFill>
              </a:rPr>
              <a:t>20MB</a:t>
            </a:r>
            <a:r>
              <a:rPr lang="zh-CN" altLang="en-US" sz="1800" dirty="0">
                <a:solidFill>
                  <a:srgbClr val="FF0000"/>
                </a:solidFill>
              </a:rPr>
              <a:t>。</a:t>
            </a:r>
            <a:endParaRPr lang="en-US" altLang="zh-CN" sz="2000" dirty="0"/>
          </a:p>
          <a:p>
            <a:r>
              <a:rPr lang="zh-CN" altLang="en-US" sz="2000" dirty="0"/>
              <a:t>支撑材料：包括用于支撑参赛论文中模型、结果和结论的所有必要材料，通常应包含所有可运行的源程序、自己查阅并使用的数据和难以从公开渠道找到的相关资料等。使用</a:t>
            </a:r>
            <a:r>
              <a:rPr lang="en-US" altLang="zh-CN" sz="2000" dirty="0" err="1"/>
              <a:t>WinRAR</a:t>
            </a:r>
            <a:r>
              <a:rPr lang="zh-CN" altLang="en-US" sz="2000" dirty="0"/>
              <a:t>压缩为一个文件。</a:t>
            </a:r>
            <a:r>
              <a:rPr lang="zh-CN" altLang="en-US" sz="1800" dirty="0">
                <a:solidFill>
                  <a:srgbClr val="FF0000"/>
                </a:solidFill>
              </a:rPr>
              <a:t>文件大小不超过</a:t>
            </a:r>
            <a:r>
              <a:rPr lang="en-US" altLang="zh-CN" sz="1800" dirty="0">
                <a:solidFill>
                  <a:srgbClr val="FF0000"/>
                </a:solidFill>
              </a:rPr>
              <a:t>20MB</a:t>
            </a:r>
            <a:r>
              <a:rPr lang="zh-CN" altLang="en-US" sz="1800" dirty="0">
                <a:solidFill>
                  <a:srgbClr val="FF0000"/>
                </a:solidFill>
              </a:rPr>
              <a:t>。</a:t>
            </a:r>
            <a:endParaRPr lang="en-US" altLang="zh-CN"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a:t>全国大学生数学建模竞赛论文格式规范</a:t>
            </a:r>
            <a:endParaRPr kumimoji="1" lang="zh-CN" altLang="en-US" dirty="0"/>
          </a:p>
        </p:txBody>
      </p:sp>
      <p:sp>
        <p:nvSpPr>
          <p:cNvPr id="3" name="内容占位符 2"/>
          <p:cNvSpPr>
            <a:spLocks noGrp="1"/>
          </p:cNvSpPr>
          <p:nvPr>
            <p:ph idx="1"/>
          </p:nvPr>
        </p:nvSpPr>
        <p:spPr/>
        <p:txBody>
          <a:bodyPr>
            <a:normAutofit fontScale="92500" lnSpcReduction="20000"/>
          </a:bodyPr>
          <a:lstStyle/>
          <a:p>
            <a:r>
              <a:rPr kumimoji="1" lang="zh-CN" altLang="en-US" dirty="0"/>
              <a:t>学生在全国系统中提交的电子版论文第一页为摘要专用页。摘要内容（含标题和关键词，无需翻译成英文）原则上不能超过一页。</a:t>
            </a:r>
            <a:endParaRPr kumimoji="1" lang="en-US" altLang="zh-CN" dirty="0"/>
          </a:p>
          <a:p>
            <a:r>
              <a:rPr kumimoji="1" lang="zh-CN" altLang="en-US" dirty="0"/>
              <a:t>论文正文内容</a:t>
            </a:r>
            <a:r>
              <a:rPr kumimoji="1" lang="zh-CN" altLang="en-US" dirty="0">
                <a:solidFill>
                  <a:srgbClr val="FF0000"/>
                </a:solidFill>
              </a:rPr>
              <a:t>不要目录，不超过</a:t>
            </a:r>
            <a:r>
              <a:rPr kumimoji="1" lang="en-US" altLang="zh-CN" dirty="0">
                <a:solidFill>
                  <a:srgbClr val="FF0000"/>
                </a:solidFill>
              </a:rPr>
              <a:t>30</a:t>
            </a:r>
            <a:r>
              <a:rPr kumimoji="1" lang="zh-CN" altLang="en-US" dirty="0">
                <a:solidFill>
                  <a:srgbClr val="FF0000"/>
                </a:solidFill>
              </a:rPr>
              <a:t>页</a:t>
            </a:r>
            <a:r>
              <a:rPr kumimoji="1" lang="zh-CN" altLang="en-US" dirty="0"/>
              <a:t>。</a:t>
            </a:r>
            <a:endParaRPr kumimoji="1" lang="en-US" altLang="zh-CN" dirty="0"/>
          </a:p>
          <a:p>
            <a:r>
              <a:rPr kumimoji="1" lang="zh-CN" altLang="en-US" dirty="0"/>
              <a:t>特别注意：</a:t>
            </a:r>
            <a:r>
              <a:rPr kumimoji="1" lang="zh-CN" altLang="en-US" dirty="0">
                <a:solidFill>
                  <a:srgbClr val="FF0000"/>
                </a:solidFill>
              </a:rPr>
              <a:t>论文正文包括正文主体、</a:t>
            </a:r>
            <a:r>
              <a:rPr kumimoji="1" lang="en-US" altLang="zh-CN" dirty="0">
                <a:solidFill>
                  <a:srgbClr val="FF0000"/>
                </a:solidFill>
              </a:rPr>
              <a:t>AI</a:t>
            </a:r>
            <a:r>
              <a:rPr kumimoji="1" lang="zh-CN" altLang="en-US" dirty="0">
                <a:solidFill>
                  <a:srgbClr val="FF0000"/>
                </a:solidFill>
              </a:rPr>
              <a:t>工具使用声明和参考文献。</a:t>
            </a:r>
            <a:endParaRPr kumimoji="1" lang="en-US" altLang="zh-CN" dirty="0">
              <a:solidFill>
                <a:srgbClr val="FF0000"/>
              </a:solidFill>
            </a:endParaRPr>
          </a:p>
          <a:p>
            <a:r>
              <a:rPr kumimoji="1" lang="zh-CN" altLang="en-US" dirty="0"/>
              <a:t>正文之后是论文附录，页码不限。</a:t>
            </a:r>
            <a:endParaRPr kumimoji="1" lang="en-US" altLang="zh-CN" dirty="0"/>
          </a:p>
          <a:p>
            <a:r>
              <a:rPr kumimoji="1" lang="zh-CN" altLang="en-US" dirty="0"/>
              <a:t>论文附录内容应包括支撑材料的文件列表，建模所用到的全部完整、可运行的源程序代码（含</a:t>
            </a:r>
            <a:r>
              <a:rPr kumimoji="1" lang="en-US" altLang="zh-CN" dirty="0"/>
              <a:t>EXCEL</a:t>
            </a:r>
            <a:r>
              <a:rPr kumimoji="1" lang="zh-CN" altLang="en-US" dirty="0"/>
              <a:t>、</a:t>
            </a:r>
            <a:r>
              <a:rPr kumimoji="1" lang="en-US" altLang="zh-CN" dirty="0"/>
              <a:t>SPSS</a:t>
            </a:r>
            <a:r>
              <a:rPr kumimoji="1" lang="zh-CN" altLang="en-US" dirty="0"/>
              <a:t>等软件的交互命令）等。</a:t>
            </a:r>
            <a:endParaRPr kumimoji="1" lang="en-US" altLang="zh-CN" dirty="0"/>
          </a:p>
          <a:p>
            <a:pPr marL="0" indent="0">
              <a:buNone/>
            </a:pPr>
            <a:endParaRPr kumimoji="1" lang="zh-CN" altLang="en-US"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特别注意</a:t>
            </a:r>
            <a:endParaRPr lang="zh-CN" altLang="en-US" dirty="0"/>
          </a:p>
        </p:txBody>
      </p:sp>
      <p:sp>
        <p:nvSpPr>
          <p:cNvPr id="3" name="内容占位符 2"/>
          <p:cNvSpPr>
            <a:spLocks noGrp="1"/>
          </p:cNvSpPr>
          <p:nvPr>
            <p:ph idx="1"/>
          </p:nvPr>
        </p:nvSpPr>
        <p:spPr/>
        <p:txBody>
          <a:bodyPr>
            <a:normAutofit fontScale="77500" lnSpcReduction="20000"/>
          </a:bodyPr>
          <a:lstStyle/>
          <a:p>
            <a:r>
              <a:rPr lang="zh-CN" altLang="en-US" dirty="0"/>
              <a:t>在参赛论文电子版及支撑材料压缩包内任何位置（包括文件夹名、文件名和文档属性等）均不得出现与参赛队有关的信息。</a:t>
            </a:r>
            <a:endParaRPr lang="en-US" altLang="zh-CN" dirty="0"/>
          </a:p>
          <a:p>
            <a:r>
              <a:rPr lang="zh-CN" altLang="en-US" dirty="0"/>
              <a:t>参赛学生可将需要上传的支撑材料放置在一个文件夹内，然后使用压缩工具对该文件夹进行压缩得到支撑材料压缩文件。</a:t>
            </a:r>
            <a:endParaRPr lang="en-US" altLang="zh-CN" dirty="0"/>
          </a:p>
          <a:p>
            <a:r>
              <a:rPr lang="zh-CN" altLang="en-US" dirty="0"/>
              <a:t>竞赛管理系统对参赛论文和支撑材料的文件名不做要求，参赛队在提交参赛论文和支撑材料后，系统将根据报名信息对文件重新命名。</a:t>
            </a:r>
            <a:endParaRPr lang="en-US" altLang="zh-CN" dirty="0"/>
          </a:p>
          <a:p>
            <a:r>
              <a:rPr lang="zh-CN" altLang="en-US" dirty="0"/>
              <a:t>源程序应作为附录放入参赛论文之后，并与论文一并编辑在同一个文件中。</a:t>
            </a:r>
            <a:endParaRPr lang="en-US" altLang="zh-CN" dirty="0"/>
          </a:p>
          <a:p>
            <a:r>
              <a:rPr lang="zh-CN" altLang="en-US" dirty="0"/>
              <a:t>源文件除应作为附录放入参赛论文中之外，还应放入支撑材料中。</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北京赛区论文提交</a:t>
            </a:r>
            <a:endParaRPr lang="zh-CN" altLang="en-US" dirty="0"/>
          </a:p>
        </p:txBody>
      </p:sp>
      <p:sp>
        <p:nvSpPr>
          <p:cNvPr id="3" name="内容占位符 2"/>
          <p:cNvSpPr>
            <a:spLocks noGrp="1"/>
          </p:cNvSpPr>
          <p:nvPr>
            <p:ph idx="1"/>
          </p:nvPr>
        </p:nvSpPr>
        <p:spPr/>
        <p:txBody>
          <a:bodyPr>
            <a:normAutofit/>
          </a:bodyPr>
          <a:lstStyle/>
          <a:p>
            <a:pPr lvl="0"/>
            <a:r>
              <a:rPr lang="zh-CN" altLang="zh-CN" dirty="0"/>
              <a:t>各参赛队</a:t>
            </a:r>
            <a:r>
              <a:rPr lang="zh-CN" altLang="en-US" dirty="0"/>
              <a:t>除完成全国系统网上论文提交以外，</a:t>
            </a:r>
            <a:r>
              <a:rPr lang="zh-CN" altLang="zh-CN" dirty="0"/>
              <a:t>还需将电子版论文发给本校负责教师，用以刻光盘。同时将承诺书（在下载的题目压缩包中，文档模板的第一页）打印下来签字并交给本校组织竞赛的老师。</a:t>
            </a:r>
            <a:endParaRPr lang="zh-CN" altLang="zh-CN" dirty="0"/>
          </a:p>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竞赛特别注意事项</a:t>
            </a:r>
            <a:endParaRPr lang="zh-CN" altLang="en-US" dirty="0"/>
          </a:p>
        </p:txBody>
      </p:sp>
      <p:sp>
        <p:nvSpPr>
          <p:cNvPr id="3" name="内容占位符 2"/>
          <p:cNvSpPr>
            <a:spLocks noGrp="1"/>
          </p:cNvSpPr>
          <p:nvPr>
            <p:ph idx="1"/>
          </p:nvPr>
        </p:nvSpPr>
        <p:spPr/>
        <p:txBody>
          <a:bodyPr>
            <a:normAutofit fontScale="77500" lnSpcReduction="20000"/>
          </a:bodyPr>
          <a:lstStyle/>
          <a:p>
            <a:pPr lvl="0"/>
            <a:r>
              <a:rPr lang="zh-CN" altLang="zh-CN" dirty="0"/>
              <a:t>按照《全国大学生数学建模竞赛参赛规则》，指导教师在竞赛期间不得通过任何方式对参赛学生进行任何形式的指导（包括向学生解释赛题或提供选题、解题建议，提供参考资料，修改论文或提供修改建议等）否则一律按违纪处理。</a:t>
            </a:r>
            <a:endParaRPr lang="zh-CN" altLang="en-US" dirty="0"/>
          </a:p>
          <a:p>
            <a:r>
              <a:rPr lang="zh-CN" altLang="en-US" dirty="0"/>
              <a:t> 参赛学校可以建立本校的竞赛交流平台（含“贴吧”、</a:t>
            </a:r>
            <a:r>
              <a:rPr lang="en-US" altLang="zh-CN" dirty="0"/>
              <a:t>QQ</a:t>
            </a:r>
            <a:r>
              <a:rPr lang="zh-CN" altLang="en-US" dirty="0"/>
              <a:t>群和微信群等），但这些交流平台在竞赛期间仅可用于竞赛的组织和管理工作（如发布赛题和竞赛通知等），不得交流及讨论与赛题有关的问题</a:t>
            </a:r>
            <a:endParaRPr lang="en-US" altLang="zh-CN" dirty="0"/>
          </a:p>
          <a:p>
            <a:pPr lvl="0"/>
            <a:r>
              <a:rPr lang="zh-CN" altLang="zh-CN" dirty="0"/>
              <a:t>北京赛区指定各校</a:t>
            </a:r>
            <a:r>
              <a:rPr lang="zh-CN" altLang="en-US" dirty="0"/>
              <a:t>负责教师</a:t>
            </a:r>
            <a:r>
              <a:rPr lang="zh-CN" altLang="zh-CN" dirty="0"/>
              <a:t>为各校的竞赛交流平台（含“贴吧”、</a:t>
            </a:r>
            <a:r>
              <a:rPr lang="en-US" altLang="zh-CN" dirty="0"/>
              <a:t>QQ </a:t>
            </a:r>
            <a:r>
              <a:rPr lang="zh-CN" altLang="zh-CN" dirty="0"/>
              <a:t>群和微信群等）的监督员，确保在竞赛期间各校的交流平台仅用于竞赛的组织和管理工作，不出现任何违纪现象。</a:t>
            </a:r>
            <a:endParaRPr lang="zh-CN"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参赛学生特别注意事项</a:t>
            </a:r>
            <a:endParaRPr lang="zh-CN" altLang="en-US" dirty="0"/>
          </a:p>
        </p:txBody>
      </p:sp>
      <p:sp>
        <p:nvSpPr>
          <p:cNvPr id="3" name="内容占位符 2"/>
          <p:cNvSpPr>
            <a:spLocks noGrp="1"/>
          </p:cNvSpPr>
          <p:nvPr>
            <p:ph idx="1"/>
          </p:nvPr>
        </p:nvSpPr>
        <p:spPr/>
        <p:txBody>
          <a:bodyPr>
            <a:normAutofit fontScale="77500" lnSpcReduction="20000"/>
          </a:bodyPr>
          <a:lstStyle/>
          <a:p>
            <a:pPr lvl="0"/>
            <a:r>
              <a:rPr lang="zh-CN" altLang="zh-CN" dirty="0"/>
              <a:t>竞赛期间各参赛队必须独立完成赛题解答，禁止参赛队员以任何方式与队外的任何人（包括指导教师）交流及讨论与赛题有关的问题，参赛队员无论主动参与讨论还是被动接收讨论信息均视为严重违反竞赛纪律。竞赛期间参赛队员不得加入或留在涉及赛题讨论的互联网交流平台（含“贴吧”、</a:t>
            </a:r>
            <a:r>
              <a:rPr lang="en-US" altLang="zh-CN" dirty="0"/>
              <a:t>QQ</a:t>
            </a:r>
            <a:r>
              <a:rPr lang="zh-CN" altLang="zh-CN" dirty="0"/>
              <a:t>群和微信群等），否则一律视为严重违反竞赛纪律。严重违纪的参赛队将被无条件取消评奖资格，并视情节给予相应的通报。</a:t>
            </a:r>
            <a:endParaRPr lang="en-US" altLang="zh-CN" dirty="0"/>
          </a:p>
          <a:p>
            <a:r>
              <a:rPr lang="zh-CN" altLang="zh-CN" dirty="0"/>
              <a:t>竞赛期间不要将自己的论文上网查重，以免论文成为其他队抄袭的范本。导致全国管理系统自建库查重超标</a:t>
            </a:r>
            <a:r>
              <a:rPr lang="zh-CN" altLang="en-US" dirty="0"/>
              <a:t>。</a:t>
            </a:r>
            <a:endParaRPr lang="en-US" altLang="zh-CN" dirty="0"/>
          </a:p>
          <a:p>
            <a:r>
              <a:rPr lang="zh-CN" altLang="en-US" dirty="0">
                <a:solidFill>
                  <a:srgbClr val="FF0000"/>
                </a:solidFill>
              </a:rPr>
              <a:t>竞赛期间从各种网络平台获得“解题思路”的行为也属于违纪行为。</a:t>
            </a:r>
            <a:endParaRPr lang="zh-CN" altLang="zh-CN" dirty="0"/>
          </a:p>
          <a:p>
            <a:pPr marL="0" lvl="0" indent="0">
              <a:buNone/>
            </a:pPr>
            <a:endParaRPr lang="zh-CN" altLang="zh-CN" dirty="0"/>
          </a:p>
          <a:p>
            <a:pPr>
              <a:buNone/>
            </a:pP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a:t>全国大学生数学建模竞赛人工智能工具使用规定</a:t>
            </a:r>
            <a:endParaRPr kumimoji="1" lang="zh-CN" altLang="en-US" dirty="0"/>
          </a:p>
        </p:txBody>
      </p:sp>
      <p:sp>
        <p:nvSpPr>
          <p:cNvPr id="3" name="内容占位符 2"/>
          <p:cNvSpPr>
            <a:spLocks noGrp="1"/>
          </p:cNvSpPr>
          <p:nvPr>
            <p:ph idx="1"/>
          </p:nvPr>
        </p:nvSpPr>
        <p:spPr>
          <a:xfrm>
            <a:off x="628650" y="1417638"/>
            <a:ext cx="7886700" cy="4613291"/>
          </a:xfrm>
        </p:spPr>
        <p:txBody>
          <a:bodyPr>
            <a:normAutofit fontScale="85000" lnSpcReduction="20000"/>
          </a:bodyPr>
          <a:lstStyle/>
          <a:p>
            <a:r>
              <a:rPr lang="zh-CN" altLang="en-US" sz="3100" dirty="0">
                <a:effectLst/>
                <a:latin typeface="宋体" panose="02010600030101010101" pitchFamily="2" charset="-122"/>
                <a:ea typeface="宋体" panose="02010600030101010101" pitchFamily="2" charset="-122"/>
              </a:rPr>
              <a:t>本规定适用于全国大学生数学建模竞赛中人工智能</a:t>
            </a:r>
            <a:r>
              <a:rPr lang="en-US" altLang="zh-CN" sz="3100" dirty="0">
                <a:effectLst/>
                <a:latin typeface="宋体" panose="02010600030101010101" pitchFamily="2" charset="-122"/>
                <a:ea typeface="宋体" panose="02010600030101010101" pitchFamily="2" charset="-122"/>
              </a:rPr>
              <a:t>(</a:t>
            </a:r>
            <a:r>
              <a:rPr lang="zh-CN" altLang="en-US" sz="3100" dirty="0">
                <a:effectLst/>
                <a:latin typeface="宋体" panose="02010600030101010101" pitchFamily="2" charset="-122"/>
                <a:ea typeface="宋体" panose="02010600030101010101" pitchFamily="2" charset="-122"/>
              </a:rPr>
              <a:t>以下简称</a:t>
            </a:r>
            <a:r>
              <a:rPr lang="en-US" altLang="zh-CN" sz="3100" dirty="0">
                <a:effectLst/>
                <a:latin typeface="宋体" panose="02010600030101010101" pitchFamily="2" charset="-122"/>
                <a:ea typeface="宋体" panose="02010600030101010101" pitchFamily="2" charset="-122"/>
              </a:rPr>
              <a:t>AI)</a:t>
            </a:r>
            <a:r>
              <a:rPr lang="zh-CN" altLang="en-US" sz="3100" dirty="0">
                <a:effectLst/>
                <a:latin typeface="宋体" panose="02010600030101010101" pitchFamily="2" charset="-122"/>
                <a:ea typeface="宋体" panose="02010600030101010101" pitchFamily="2" charset="-122"/>
              </a:rPr>
              <a:t>工具的使用，包括但不限于大语言模型、生成式 </a:t>
            </a:r>
            <a:r>
              <a:rPr lang="en-US" altLang="zh-CN" sz="3100" dirty="0">
                <a:effectLst/>
                <a:latin typeface="宋体" panose="02010600030101010101" pitchFamily="2" charset="-122"/>
                <a:ea typeface="宋体" panose="02010600030101010101" pitchFamily="2" charset="-122"/>
              </a:rPr>
              <a:t>AI</a:t>
            </a:r>
            <a:r>
              <a:rPr lang="zh-CN" altLang="en-US" sz="3100" dirty="0">
                <a:effectLst/>
                <a:latin typeface="宋体" panose="02010600030101010101" pitchFamily="2" charset="-122"/>
                <a:ea typeface="宋体" panose="02010600030101010101" pitchFamily="2" charset="-122"/>
              </a:rPr>
              <a:t>、代码辅助工具和</a:t>
            </a:r>
            <a:r>
              <a:rPr lang="en-US" altLang="zh-CN" sz="3100" dirty="0">
                <a:effectLst/>
                <a:latin typeface="宋体" panose="02010600030101010101" pitchFamily="2" charset="-122"/>
                <a:ea typeface="宋体" panose="02010600030101010101" pitchFamily="2" charset="-122"/>
              </a:rPr>
              <a:t>AI</a:t>
            </a:r>
            <a:r>
              <a:rPr lang="zh-CN" altLang="en-US" sz="3100" dirty="0">
                <a:effectLst/>
                <a:latin typeface="宋体" panose="02010600030101010101" pitchFamily="2" charset="-122"/>
                <a:ea typeface="宋体" panose="02010600030101010101" pitchFamily="2" charset="-122"/>
              </a:rPr>
              <a:t>智能体等。 </a:t>
            </a:r>
            <a:endParaRPr lang="zh-CN" altLang="en-US" sz="3100" dirty="0">
              <a:effectLst/>
              <a:latin typeface="宋体" panose="02010600030101010101" pitchFamily="2" charset="-122"/>
              <a:ea typeface="宋体" panose="02010600030101010101" pitchFamily="2" charset="-122"/>
            </a:endParaRPr>
          </a:p>
          <a:p>
            <a:r>
              <a:rPr lang="zh-CN" altLang="en-US" sz="3100" dirty="0">
                <a:effectLst/>
                <a:latin typeface="宋体" panose="02010600030101010101" pitchFamily="2" charset="-122"/>
                <a:ea typeface="宋体" panose="02010600030101010101" pitchFamily="2" charset="-122"/>
              </a:rPr>
              <a:t>解决竞赛问题不要求必须使用</a:t>
            </a:r>
            <a:r>
              <a:rPr lang="en-US" altLang="zh-CN" sz="3100" dirty="0">
                <a:effectLst/>
                <a:latin typeface="宋体" panose="02010600030101010101" pitchFamily="2" charset="-122"/>
                <a:ea typeface="宋体" panose="02010600030101010101" pitchFamily="2" charset="-122"/>
              </a:rPr>
              <a:t>AI</a:t>
            </a:r>
            <a:r>
              <a:rPr lang="zh-CN" altLang="en-US" sz="3100" dirty="0">
                <a:effectLst/>
                <a:latin typeface="宋体" panose="02010600030101010101" pitchFamily="2" charset="-122"/>
                <a:ea typeface="宋体" panose="02010600030101010101" pitchFamily="2" charset="-122"/>
              </a:rPr>
              <a:t>工具。参赛队可在竞赛期间使用</a:t>
            </a:r>
            <a:r>
              <a:rPr lang="en-US" altLang="zh-CN" sz="3100" dirty="0">
                <a:effectLst/>
                <a:latin typeface="宋体" panose="02010600030101010101" pitchFamily="2" charset="-122"/>
                <a:ea typeface="宋体" panose="02010600030101010101" pitchFamily="2" charset="-122"/>
              </a:rPr>
              <a:t>AI</a:t>
            </a:r>
            <a:r>
              <a:rPr lang="zh-CN" altLang="en-US" sz="3100" dirty="0">
                <a:effectLst/>
                <a:latin typeface="宋体" panose="02010600030101010101" pitchFamily="2" charset="-122"/>
                <a:ea typeface="宋体" panose="02010600030101010101" pitchFamily="2" charset="-122"/>
              </a:rPr>
              <a:t>工具，</a:t>
            </a:r>
            <a:r>
              <a:rPr lang="zh-CN" altLang="en-US" sz="3100" dirty="0">
                <a:solidFill>
                  <a:srgbClr val="FF0000"/>
                </a:solidFill>
                <a:effectLst/>
                <a:latin typeface="宋体" panose="02010600030101010101" pitchFamily="2" charset="-122"/>
                <a:ea typeface="宋体" panose="02010600030101010101" pitchFamily="2" charset="-122"/>
              </a:rPr>
              <a:t>但应遵循公开透明原则，确保参赛作品的核心建模与分析由参赛队主导，并对</a:t>
            </a:r>
            <a:r>
              <a:rPr lang="en-US" altLang="zh-CN" sz="3100" dirty="0">
                <a:solidFill>
                  <a:srgbClr val="FF0000"/>
                </a:solidFill>
                <a:effectLst/>
                <a:latin typeface="宋体" panose="02010600030101010101" pitchFamily="2" charset="-122"/>
                <a:ea typeface="宋体" panose="02010600030101010101" pitchFamily="2" charset="-122"/>
              </a:rPr>
              <a:t>AI</a:t>
            </a:r>
            <a:r>
              <a:rPr lang="zh-CN" altLang="en-US" sz="3100" dirty="0">
                <a:solidFill>
                  <a:srgbClr val="FF0000"/>
                </a:solidFill>
                <a:effectLst/>
                <a:latin typeface="宋体" panose="02010600030101010101" pitchFamily="2" charset="-122"/>
                <a:ea typeface="宋体" panose="02010600030101010101" pitchFamily="2" charset="-122"/>
              </a:rPr>
              <a:t>参与完成的内容逐项人工审查与核实。</a:t>
            </a:r>
            <a:endParaRPr lang="en-US" altLang="zh-CN" sz="3100" dirty="0">
              <a:solidFill>
                <a:srgbClr val="FF0000"/>
              </a:solidFill>
              <a:effectLst/>
              <a:latin typeface="宋体" panose="02010600030101010101" pitchFamily="2" charset="-122"/>
              <a:ea typeface="宋体" panose="02010600030101010101" pitchFamily="2" charset="-122"/>
            </a:endParaRPr>
          </a:p>
          <a:p>
            <a:r>
              <a:rPr lang="zh-CN" altLang="en-US" sz="3100" dirty="0">
                <a:effectLst/>
                <a:latin typeface="宋体" panose="02010600030101010101" pitchFamily="2" charset="-122"/>
                <a:ea typeface="宋体" panose="02010600030101010101" pitchFamily="2" charset="-122"/>
              </a:rPr>
              <a:t>参赛队应在</a:t>
            </a:r>
            <a:r>
              <a:rPr lang="zh-CN" altLang="en-US" sz="3100" dirty="0">
                <a:solidFill>
                  <a:srgbClr val="FF0000"/>
                </a:solidFill>
                <a:effectLst/>
                <a:latin typeface="宋体" panose="02010600030101010101" pitchFamily="2" charset="-122"/>
                <a:ea typeface="宋体" panose="02010600030101010101" pitchFamily="2" charset="-122"/>
              </a:rPr>
              <a:t>论文参考文献之前设置</a:t>
            </a:r>
            <a:r>
              <a:rPr lang="zh-CN" altLang="en-US" sz="3100" dirty="0">
                <a:effectLst/>
                <a:latin typeface="宋体" panose="02010600030101010101" pitchFamily="2" charset="-122"/>
                <a:ea typeface="宋体" panose="02010600030101010101" pitchFamily="2" charset="-122"/>
              </a:rPr>
              <a:t>“</a:t>
            </a:r>
            <a:r>
              <a:rPr lang="en-US" altLang="zh-CN" sz="3100" dirty="0">
                <a:effectLst/>
                <a:latin typeface="宋体" panose="02010600030101010101" pitchFamily="2" charset="-122"/>
                <a:ea typeface="宋体" panose="02010600030101010101" pitchFamily="2" charset="-122"/>
              </a:rPr>
              <a:t>AI</a:t>
            </a:r>
            <a:r>
              <a:rPr lang="zh-CN" altLang="en-US" sz="3100" dirty="0">
                <a:effectLst/>
                <a:latin typeface="宋体" panose="02010600030101010101" pitchFamily="2" charset="-122"/>
                <a:ea typeface="宋体" panose="02010600030101010101" pitchFamily="2" charset="-122"/>
              </a:rPr>
              <a:t>工具使用声明”，内容如下，二者择一：</a:t>
            </a:r>
            <a:endParaRPr lang="en-US" altLang="zh-CN" sz="3100" dirty="0">
              <a:effectLst/>
              <a:latin typeface="宋体" panose="02010600030101010101" pitchFamily="2" charset="-122"/>
              <a:ea typeface="宋体" panose="02010600030101010101" pitchFamily="2" charset="-122"/>
            </a:endParaRPr>
          </a:p>
          <a:p>
            <a:pPr lvl="1"/>
            <a:r>
              <a:rPr lang="zh-CN" altLang="en-US" sz="2100" dirty="0">
                <a:latin typeface="宋体" panose="02010600030101010101" pitchFamily="2" charset="-122"/>
                <a:ea typeface="宋体" panose="02010600030101010101" pitchFamily="2" charset="-122"/>
              </a:rPr>
              <a:t>未使用</a:t>
            </a:r>
            <a:r>
              <a:rPr lang="en-US" altLang="zh-CN" sz="2100" dirty="0">
                <a:latin typeface="宋体" panose="02010600030101010101" pitchFamily="2" charset="-122"/>
                <a:ea typeface="宋体" panose="02010600030101010101" pitchFamily="2" charset="-122"/>
              </a:rPr>
              <a:t>AI</a:t>
            </a:r>
            <a:r>
              <a:rPr lang="zh-CN" altLang="en-US" sz="2100" dirty="0">
                <a:latin typeface="宋体" panose="02010600030101010101" pitchFamily="2" charset="-122"/>
                <a:ea typeface="宋体" panose="02010600030101010101" pitchFamily="2" charset="-122"/>
              </a:rPr>
              <a:t>工具的，声明</a:t>
            </a:r>
            <a:r>
              <a:rPr lang="en-US" altLang="zh-CN" sz="2100" dirty="0">
                <a:latin typeface="宋体" panose="02010600030101010101" pitchFamily="2" charset="-122"/>
                <a:ea typeface="宋体" panose="02010600030101010101" pitchFamily="2" charset="-122"/>
              </a:rPr>
              <a:t>:“</a:t>
            </a:r>
            <a:r>
              <a:rPr lang="zh-CN" altLang="en-US" sz="2100" dirty="0">
                <a:latin typeface="宋体" panose="02010600030101010101" pitchFamily="2" charset="-122"/>
                <a:ea typeface="宋体" panose="02010600030101010101" pitchFamily="2" charset="-122"/>
              </a:rPr>
              <a:t>本参赛队在竞赛过程中未使用任何 </a:t>
            </a:r>
            <a:r>
              <a:rPr lang="en-US" altLang="zh-CN" sz="2100" dirty="0">
                <a:latin typeface="宋体" panose="02010600030101010101" pitchFamily="2" charset="-122"/>
                <a:ea typeface="宋体" panose="02010600030101010101" pitchFamily="2" charset="-122"/>
              </a:rPr>
              <a:t>AI </a:t>
            </a:r>
            <a:r>
              <a:rPr lang="zh-CN" altLang="en-US" sz="2100" dirty="0">
                <a:latin typeface="宋体" panose="02010600030101010101" pitchFamily="2" charset="-122"/>
                <a:ea typeface="宋体" panose="02010600030101010101" pitchFamily="2" charset="-122"/>
              </a:rPr>
              <a:t>工具”。 </a:t>
            </a:r>
            <a:endParaRPr lang="en-US" altLang="zh-CN" sz="2100" dirty="0">
              <a:latin typeface="宋体" panose="02010600030101010101" pitchFamily="2" charset="-122"/>
              <a:ea typeface="宋体" panose="02010600030101010101" pitchFamily="2" charset="-122"/>
            </a:endParaRPr>
          </a:p>
          <a:p>
            <a:pPr lvl="1"/>
            <a:r>
              <a:rPr lang="zh-CN" altLang="en-US" sz="2100" dirty="0">
                <a:latin typeface="宋体" panose="02010600030101010101" pitchFamily="2" charset="-122"/>
                <a:ea typeface="宋体" panose="02010600030101010101" pitchFamily="2" charset="-122"/>
              </a:rPr>
              <a:t>使用 </a:t>
            </a:r>
            <a:r>
              <a:rPr lang="en-US" altLang="zh-CN" sz="2100" dirty="0">
                <a:latin typeface="宋体" panose="02010600030101010101" pitchFamily="2" charset="-122"/>
                <a:ea typeface="宋体" panose="02010600030101010101" pitchFamily="2" charset="-122"/>
              </a:rPr>
              <a:t>AI </a:t>
            </a:r>
            <a:r>
              <a:rPr lang="zh-CN" altLang="en-US" sz="2100" dirty="0">
                <a:latin typeface="宋体" panose="02010600030101010101" pitchFamily="2" charset="-122"/>
                <a:ea typeface="宋体" panose="02010600030101010101" pitchFamily="2" charset="-122"/>
              </a:rPr>
              <a:t>工具的，声明：“本参赛队在竞赛过程中使用了</a:t>
            </a:r>
            <a:r>
              <a:rPr lang="en-US" altLang="zh-CN" sz="2100" dirty="0">
                <a:latin typeface="宋体" panose="02010600030101010101" pitchFamily="2" charset="-122"/>
                <a:ea typeface="宋体" panose="02010600030101010101" pitchFamily="2" charset="-122"/>
              </a:rPr>
              <a:t>AI</a:t>
            </a:r>
            <a:r>
              <a:rPr lang="zh-CN" altLang="en-US" sz="2100" dirty="0">
                <a:latin typeface="宋体" panose="02010600030101010101" pitchFamily="2" charset="-122"/>
                <a:ea typeface="宋体" panose="02010600030101010101" pitchFamily="2" charset="-122"/>
              </a:rPr>
              <a:t>工具，主要用于</a:t>
            </a:r>
            <a:r>
              <a:rPr lang="en-US" altLang="zh-CN" sz="2100" dirty="0">
                <a:latin typeface="宋体" panose="02010600030101010101" pitchFamily="2" charset="-122"/>
                <a:ea typeface="宋体" panose="02010600030101010101" pitchFamily="2" charset="-122"/>
              </a:rPr>
              <a:t>【</a:t>
            </a:r>
            <a:r>
              <a:rPr lang="zh-CN" altLang="en-US" sz="2100" dirty="0">
                <a:latin typeface="宋体" panose="02010600030101010101" pitchFamily="2" charset="-122"/>
                <a:ea typeface="宋体" panose="02010600030101010101" pitchFamily="2" charset="-122"/>
              </a:rPr>
              <a:t>简要用途，如语言润色、代码调试等</a:t>
            </a:r>
            <a:r>
              <a:rPr lang="en-US" altLang="zh-CN" sz="2100" dirty="0">
                <a:latin typeface="宋体" panose="02010600030101010101" pitchFamily="2" charset="-122"/>
                <a:ea typeface="宋体" panose="02010600030101010101" pitchFamily="2" charset="-122"/>
              </a:rPr>
              <a:t>】</a:t>
            </a:r>
            <a:r>
              <a:rPr lang="zh-CN" altLang="en-US" sz="2100" dirty="0">
                <a:latin typeface="宋体" panose="02010600030101010101" pitchFamily="2" charset="-122"/>
                <a:ea typeface="宋体" panose="02010600030101010101" pitchFamily="2" charset="-122"/>
              </a:rPr>
              <a:t>，详细使用情况 见支撑材料。” </a:t>
            </a:r>
            <a:endParaRPr lang="zh-CN" altLang="en-US" sz="2100" dirty="0">
              <a:latin typeface="宋体" panose="02010600030101010101" pitchFamily="2" charset="-122"/>
              <a:ea typeface="宋体" panose="02010600030101010101" pitchFamily="2" charset="-122"/>
            </a:endParaRPr>
          </a:p>
          <a:p>
            <a:pPr marL="342900" lvl="1" indent="0">
              <a:buNone/>
            </a:pPr>
            <a:endParaRPr lang="zh-CN" altLang="en-US" sz="2100" dirty="0">
              <a:latin typeface="宋体" panose="02010600030101010101" pitchFamily="2" charset="-122"/>
              <a:ea typeface="宋体" panose="02010600030101010101" pitchFamily="2" charset="-122"/>
            </a:endParaRPr>
          </a:p>
          <a:p>
            <a:pPr marL="0" indent="0">
              <a:buNone/>
            </a:pPr>
            <a:endParaRPr kumimoji="1"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a:t>全国大学生数学建模竞赛人工智能工具使用规定</a:t>
            </a:r>
            <a:endParaRPr kumimoji="1" lang="zh-CN" altLang="en-US" dirty="0"/>
          </a:p>
        </p:txBody>
      </p:sp>
      <p:sp>
        <p:nvSpPr>
          <p:cNvPr id="3" name="内容占位符 2"/>
          <p:cNvSpPr>
            <a:spLocks noGrp="1"/>
          </p:cNvSpPr>
          <p:nvPr>
            <p:ph idx="1"/>
          </p:nvPr>
        </p:nvSpPr>
        <p:spPr/>
        <p:txBody>
          <a:bodyPr>
            <a:normAutofit fontScale="77500" lnSpcReduction="20000"/>
          </a:bodyPr>
          <a:lstStyle/>
          <a:p>
            <a:r>
              <a:rPr kumimoji="1" lang="zh-CN" altLang="en-US" dirty="0"/>
              <a:t>使用</a:t>
            </a:r>
            <a:r>
              <a:rPr kumimoji="1" lang="en-US" altLang="zh-CN" dirty="0"/>
              <a:t>AI</a:t>
            </a:r>
            <a:r>
              <a:rPr kumimoji="1" lang="zh-CN" altLang="en-US" dirty="0"/>
              <a:t>工具的参赛作品，应在支撑材料中包含</a:t>
            </a:r>
            <a:r>
              <a:rPr kumimoji="1" lang="en-US" altLang="zh-CN" dirty="0"/>
              <a:t>AI</a:t>
            </a:r>
            <a:r>
              <a:rPr kumimoji="1" lang="zh-CN" altLang="en-US" dirty="0"/>
              <a:t>工具使用详细说明（</a:t>
            </a:r>
            <a:r>
              <a:rPr kumimoji="1" lang="en-US" altLang="zh-CN" dirty="0"/>
              <a:t>PDF</a:t>
            </a:r>
            <a:r>
              <a:rPr kumimoji="1" lang="zh-CN" altLang="en-US" dirty="0"/>
              <a:t>格式，文件名为“</a:t>
            </a:r>
            <a:r>
              <a:rPr kumimoji="1" lang="en-US" altLang="zh-CN" dirty="0"/>
              <a:t>AI</a:t>
            </a:r>
            <a:r>
              <a:rPr kumimoji="1" lang="zh-CN" altLang="en-US" dirty="0"/>
              <a:t>工具使用详情</a:t>
            </a:r>
            <a:r>
              <a:rPr kumimoji="1" lang="en-US" altLang="zh-CN" dirty="0"/>
              <a:t>.pdf</a:t>
            </a:r>
            <a:r>
              <a:rPr kumimoji="1" lang="zh-CN" altLang="en-US" dirty="0"/>
              <a:t>”）。内容包括：</a:t>
            </a:r>
            <a:endParaRPr kumimoji="1" lang="en-US" altLang="zh-CN" dirty="0"/>
          </a:p>
          <a:p>
            <a:pPr lvl="1"/>
            <a:r>
              <a:rPr kumimoji="1" lang="zh-CN" altLang="en-US" dirty="0"/>
              <a:t>所用</a:t>
            </a:r>
            <a:r>
              <a:rPr kumimoji="1" lang="en-US" altLang="zh-CN" dirty="0"/>
              <a:t>AI</a:t>
            </a:r>
            <a:r>
              <a:rPr kumimoji="1" lang="zh-CN" altLang="en-US" dirty="0"/>
              <a:t>工具名称、版本或型号；</a:t>
            </a:r>
            <a:endParaRPr kumimoji="1" lang="en-US" altLang="zh-CN" dirty="0"/>
          </a:p>
          <a:p>
            <a:pPr lvl="1"/>
            <a:r>
              <a:rPr kumimoji="1" lang="zh-CN" altLang="en-US" dirty="0"/>
              <a:t>具体使用目的和环节；</a:t>
            </a:r>
            <a:endParaRPr kumimoji="1" lang="en-US" altLang="zh-CN" dirty="0"/>
          </a:p>
          <a:p>
            <a:pPr lvl="1"/>
            <a:r>
              <a:rPr kumimoji="1" lang="zh-CN" altLang="en-US" dirty="0"/>
              <a:t>主要提示方式与使用过程说明（可附典型交互示例）；</a:t>
            </a:r>
            <a:endParaRPr kumimoji="1" lang="en-US" altLang="zh-CN" dirty="0"/>
          </a:p>
          <a:p>
            <a:pPr lvl="1"/>
            <a:r>
              <a:rPr kumimoji="1" lang="zh-CN" altLang="en-US" dirty="0"/>
              <a:t>对</a:t>
            </a:r>
            <a:r>
              <a:rPr kumimoji="1" lang="en-US" altLang="zh-CN" dirty="0"/>
              <a:t>AI</a:t>
            </a:r>
            <a:r>
              <a:rPr kumimoji="1" lang="zh-CN" altLang="en-US" dirty="0"/>
              <a:t>输出的采纳、人工修改和核验的主要情况（语言润色除外）。</a:t>
            </a:r>
            <a:endParaRPr kumimoji="1" lang="en-US" altLang="zh-CN" dirty="0"/>
          </a:p>
          <a:p>
            <a:r>
              <a:rPr kumimoji="1" lang="zh-CN" altLang="en-US" dirty="0">
                <a:solidFill>
                  <a:srgbClr val="FF0000"/>
                </a:solidFill>
              </a:rPr>
              <a:t>不符合上述规定的参赛作品，视为违反竞赛规则，将根据情节轻重予以处理。故意隐瞒</a:t>
            </a:r>
            <a:r>
              <a:rPr kumimoji="1" lang="en-US" altLang="zh-CN" dirty="0">
                <a:solidFill>
                  <a:srgbClr val="FF0000"/>
                </a:solidFill>
              </a:rPr>
              <a:t>AI</a:t>
            </a:r>
            <a:r>
              <a:rPr kumimoji="1" lang="zh-CN" altLang="en-US" dirty="0">
                <a:solidFill>
                  <a:srgbClr val="FF0000"/>
                </a:solidFill>
              </a:rPr>
              <a:t>使用情况、作出虚假声明，或者将未经必要人工审查与核实的</a:t>
            </a:r>
            <a:r>
              <a:rPr kumimoji="1" lang="en-US" altLang="zh-CN" dirty="0">
                <a:solidFill>
                  <a:srgbClr val="FF0000"/>
                </a:solidFill>
              </a:rPr>
              <a:t>AI</a:t>
            </a:r>
            <a:r>
              <a:rPr kumimoji="1" lang="zh-CN" altLang="en-US" dirty="0">
                <a:solidFill>
                  <a:srgbClr val="FF0000"/>
                </a:solidFill>
              </a:rPr>
              <a:t>生成内容直接作为核心建模与分析成果提交的，取消其评奖资格。</a:t>
            </a:r>
            <a:endParaRPr kumimoji="1" lang="zh-CN" altLang="en-US"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竞赛完成阶段4个重要事项</a:t>
            </a:r>
            <a:br>
              <a:rPr lang="zh-CN" altLang="en-US"/>
            </a:br>
            <a:r>
              <a:rPr lang="zh-CN" altLang="en-US"/>
              <a:t>（依次先后去做）</a:t>
            </a:r>
            <a:endParaRPr lang="zh-CN" altLang="en-US"/>
          </a:p>
        </p:txBody>
      </p:sp>
      <p:sp>
        <p:nvSpPr>
          <p:cNvPr id="3" name="内容占位符 2"/>
          <p:cNvSpPr>
            <a:spLocks noGrp="1"/>
          </p:cNvSpPr>
          <p:nvPr>
            <p:ph idx="1"/>
          </p:nvPr>
        </p:nvSpPr>
        <p:spPr/>
        <p:txBody>
          <a:bodyPr>
            <a:normAutofit/>
          </a:bodyPr>
          <a:p>
            <a:endParaRPr lang="zh-CN" altLang="en-US" sz="2800"/>
          </a:p>
          <a:p>
            <a:r>
              <a:rPr lang="zh-CN" altLang="en-US" sz="2800"/>
              <a:t>1.</a:t>
            </a:r>
            <a:r>
              <a:rPr lang="zh-CN" altLang="en-US" sz="2800">
                <a:highlight>
                  <a:srgbClr val="FFFF00"/>
                </a:highlight>
              </a:rPr>
              <a:t>9月13日20点</a:t>
            </a:r>
            <a:r>
              <a:rPr lang="zh-CN" altLang="en-US" sz="2800"/>
              <a:t>之前（离20点尽量早一点）完成论文和支撑材料的撰写（所有文件都不要出现自己的名字以及学校），之后不要再动文件，并尽快生成提交两个MD5码；</a:t>
            </a:r>
            <a:endParaRPr lang="zh-CN" altLang="en-US" sz="2800"/>
          </a:p>
          <a:p>
            <a:endParaRPr lang="zh-CN" altLang="en-US" sz="2800"/>
          </a:p>
          <a:p>
            <a:r>
              <a:rPr lang="zh-CN" altLang="en-US" sz="2800"/>
              <a:t>2.</a:t>
            </a:r>
            <a:r>
              <a:rPr lang="en-US" altLang="zh-CN" sz="2800"/>
              <a:t> </a:t>
            </a:r>
            <a:r>
              <a:rPr lang="en-US" altLang="zh-CN" sz="2800">
                <a:highlight>
                  <a:srgbClr val="FFFF00"/>
                </a:highlight>
              </a:rPr>
              <a:t> </a:t>
            </a:r>
            <a:r>
              <a:rPr lang="zh-CN" altLang="en-US" sz="2800">
                <a:highlight>
                  <a:srgbClr val="FFFF00"/>
                </a:highlight>
                <a:sym typeface="+mn-ea"/>
              </a:rPr>
              <a:t>9月13日</a:t>
            </a:r>
            <a:r>
              <a:rPr lang="en-US" altLang="zh-CN" sz="2800">
                <a:highlight>
                  <a:srgbClr val="FFFF00"/>
                </a:highlight>
                <a:sym typeface="+mn-ea"/>
              </a:rPr>
              <a:t> </a:t>
            </a:r>
            <a:r>
              <a:rPr lang="zh-CN" altLang="en-US" sz="2800">
                <a:highlight>
                  <a:srgbClr val="FFFF00"/>
                </a:highlight>
              </a:rPr>
              <a:t>20：30</a:t>
            </a:r>
            <a:r>
              <a:rPr lang="zh-CN" altLang="en-US" sz="2800"/>
              <a:t>之后请大家用客户端系统提交与MD5码匹配的论文和支撑材料；</a:t>
            </a:r>
            <a:endParaRPr lang="zh-CN" altLang="en-US"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竞赛完成阶段4个重要事项</a:t>
            </a:r>
            <a:br>
              <a:rPr lang="zh-CN" altLang="en-US"/>
            </a:br>
            <a:r>
              <a:rPr lang="zh-CN" altLang="en-US"/>
              <a:t>（依次先后去做）</a:t>
            </a:r>
            <a:endParaRPr lang="zh-CN" altLang="en-US"/>
          </a:p>
        </p:txBody>
      </p:sp>
      <p:sp>
        <p:nvSpPr>
          <p:cNvPr id="3" name="内容占位符 2"/>
          <p:cNvSpPr>
            <a:spLocks noGrp="1"/>
          </p:cNvSpPr>
          <p:nvPr>
            <p:ph idx="1"/>
          </p:nvPr>
        </p:nvSpPr>
        <p:spPr/>
        <p:txBody>
          <a:bodyPr>
            <a:normAutofit fontScale="70000"/>
          </a:bodyPr>
          <a:p>
            <a:endParaRPr lang="zh-CN" altLang="en-US" sz="2800"/>
          </a:p>
          <a:p>
            <a:r>
              <a:rPr lang="zh-CN" altLang="en-US" sz="2800"/>
              <a:t>3.</a:t>
            </a:r>
            <a:r>
              <a:rPr lang="en-US" altLang="zh-CN" sz="2800"/>
              <a:t> </a:t>
            </a:r>
            <a:r>
              <a:rPr lang="en-US" altLang="zh-CN" sz="3300"/>
              <a:t> </a:t>
            </a:r>
            <a:r>
              <a:rPr lang="zh-CN" altLang="en-US" sz="3300">
                <a:highlight>
                  <a:srgbClr val="FFFF00"/>
                </a:highlight>
              </a:rPr>
              <a:t>9月14日12:30</a:t>
            </a:r>
            <a:r>
              <a:rPr lang="zh-CN" altLang="en-US" sz="3300"/>
              <a:t>之前请在客户端</a:t>
            </a:r>
            <a:r>
              <a:rPr lang="zh-CN" altLang="en-US" sz="3300">
                <a:highlight>
                  <a:srgbClr val="FFFF00"/>
                </a:highlight>
              </a:rPr>
              <a:t>递交成功</a:t>
            </a:r>
            <a:r>
              <a:rPr lang="zh-CN" altLang="en-US" sz="3300"/>
              <a:t>的各队队长把论文电子版和支撑材料整体压缩成一个包（承诺书单交，不要放在压缩材料里）发到指定邮箱</a:t>
            </a:r>
            <a:endParaRPr lang="zh-CN" altLang="en-US" sz="3300"/>
          </a:p>
          <a:p>
            <a:r>
              <a:rPr lang="zh-CN" altLang="en-US" sz="3300"/>
              <a:t>001-200发送到fanhg2@ruc.edu.cn;</a:t>
            </a:r>
            <a:endParaRPr lang="zh-CN" altLang="en-US" sz="3300"/>
          </a:p>
          <a:p>
            <a:r>
              <a:rPr lang="zh-CN" altLang="en-US" sz="3300"/>
              <a:t>201-373发送到，liugang@ruc.edu.cn</a:t>
            </a:r>
            <a:endParaRPr lang="zh-CN" altLang="en-US" sz="3300"/>
          </a:p>
          <a:p>
            <a:r>
              <a:rPr lang="zh-CN" altLang="en-US" sz="3300">
                <a:highlight>
                  <a:srgbClr val="FFFF00"/>
                </a:highlight>
              </a:rPr>
              <a:t>注意压缩包名与邮件主题的要求：</a:t>
            </a:r>
            <a:endParaRPr lang="zh-CN" altLang="en-US" sz="3300">
              <a:highlight>
                <a:srgbClr val="FFFF00"/>
              </a:highlight>
            </a:endParaRPr>
          </a:p>
          <a:p>
            <a:r>
              <a:rPr lang="zh-CN" altLang="en-US" sz="3300"/>
              <a:t>（1）</a:t>
            </a:r>
            <a:r>
              <a:rPr lang="zh-CN" altLang="en-US" sz="3300">
                <a:highlight>
                  <a:srgbClr val="FFFF00"/>
                </a:highlight>
              </a:rPr>
              <a:t>压缩包名为竞赛系统中参赛队编号的最后 3位数字001--373, 即校内编号（注意不是报名时的号），</a:t>
            </a:r>
            <a:endParaRPr lang="zh-CN" altLang="en-US" sz="3300"/>
          </a:p>
          <a:p>
            <a:r>
              <a:rPr lang="zh-CN" altLang="en-US" sz="3300"/>
              <a:t>（2）邮件主题（写校内编号 + 组长姓名 + 组长手机号)，收到后会回复，如果发送的邮件不符合上述要求，请重新发送。</a:t>
            </a:r>
            <a:endParaRPr lang="zh-CN" altLang="en-US" sz="33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竞赛完成阶段4个重要事项</a:t>
            </a:r>
            <a:br>
              <a:rPr lang="zh-CN" altLang="en-US"/>
            </a:br>
            <a:r>
              <a:rPr lang="zh-CN" altLang="en-US"/>
              <a:t>（依次先后去做）</a:t>
            </a:r>
            <a:endParaRPr lang="zh-CN" altLang="en-US"/>
          </a:p>
        </p:txBody>
      </p:sp>
      <p:sp>
        <p:nvSpPr>
          <p:cNvPr id="3" name="内容占位符 2"/>
          <p:cNvSpPr>
            <a:spLocks noGrp="1"/>
          </p:cNvSpPr>
          <p:nvPr>
            <p:ph idx="1"/>
          </p:nvPr>
        </p:nvSpPr>
        <p:spPr/>
        <p:txBody>
          <a:bodyPr>
            <a:normAutofit/>
          </a:bodyPr>
          <a:p>
            <a:r>
              <a:rPr lang="zh-CN" altLang="en-US" sz="2800"/>
              <a:t>4.关于承诺书</a:t>
            </a:r>
            <a:endParaRPr lang="zh-CN" altLang="en-US" sz="2800"/>
          </a:p>
          <a:p>
            <a:r>
              <a:rPr lang="zh-CN" altLang="en-US" sz="2800"/>
              <a:t>（1）空白承诺书我会放机房，比赛几天大家有空的时候去填一下也可。</a:t>
            </a:r>
            <a:endParaRPr lang="zh-CN" altLang="en-US" sz="2800"/>
          </a:p>
          <a:p>
            <a:r>
              <a:rPr lang="zh-CN" altLang="en-US" sz="2800"/>
              <a:t>（2）没时间去机房填的可以自行打印，然后于</a:t>
            </a:r>
            <a:r>
              <a:rPr lang="zh-CN" altLang="en-US" sz="2800">
                <a:highlight>
                  <a:srgbClr val="FFFF00"/>
                </a:highlight>
              </a:rPr>
              <a:t>9月14日12:30-13:45</a:t>
            </a:r>
            <a:r>
              <a:rPr lang="zh-CN" altLang="en-US" sz="2800"/>
              <a:t>期间签完字(三个人都签)到信息楼 3 楼 337 。</a:t>
            </a:r>
            <a:endParaRPr lang="zh-CN" altLang="en-US" sz="2800"/>
          </a:p>
          <a:p>
            <a:r>
              <a:rPr lang="zh-CN" altLang="en-US" sz="2800"/>
              <a:t>（3）中法学院或者在国外的同学请把签字的承诺书电子版发邮箱werling@ruc.edu.cn</a:t>
            </a:r>
            <a:endParaRPr lang="zh-CN" altLang="en-US" sz="33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zh-CN" altLang="en-US" sz="4400"/>
              <a:t>祝大家比赛顺利！</a:t>
            </a:r>
            <a:endParaRPr lang="zh-CN" altLang="en-US" sz="4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2867</Words>
  <Application>WPS 演示</Application>
  <PresentationFormat>全屏显示(4:3)</PresentationFormat>
  <Paragraphs>99</Paragraphs>
  <Slides>14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宋体</vt:lpstr>
      <vt:lpstr>Wingdings</vt:lpstr>
      <vt:lpstr>Arial</vt:lpstr>
      <vt:lpstr>宋体</vt:lpstr>
      <vt:lpstr>汉仪书宋二KW</vt:lpstr>
      <vt:lpstr>Calibri</vt:lpstr>
      <vt:lpstr>Helvetica Neue</vt:lpstr>
      <vt:lpstr>宋体</vt:lpstr>
      <vt:lpstr>微软雅黑</vt:lpstr>
      <vt:lpstr>汉仪旗黑</vt:lpstr>
      <vt:lpstr>Arial Unicode MS</vt:lpstr>
      <vt:lpstr>Office Theme</vt:lpstr>
      <vt:lpstr>2026年北京赛区注意事项</vt:lpstr>
      <vt:lpstr>全国大学数学建模竞赛比赛时间</vt:lpstr>
      <vt:lpstr>全国系统论文提交说明</vt:lpstr>
      <vt:lpstr>全国大学生数学建模竞赛论文格式规范</vt:lpstr>
      <vt:lpstr>特别注意</vt:lpstr>
      <vt:lpstr>北京赛区论文提交</vt:lpstr>
      <vt:lpstr>竞赛特别注意事项</vt:lpstr>
      <vt:lpstr>参赛学生特别注意事项</vt:lpstr>
      <vt:lpstr>全国大学生数学建模竞赛人工智能工具使用规定</vt:lpstr>
      <vt:lpstr>全国大学生数学建模竞赛人工智能工具使用规定</vt:lpstr>
      <vt:lpstr>PowerPoint 演示文稿</vt:lpstr>
      <vt:lpstr>竞赛完成阶段4个重要事项 （依次先后去做）</vt:lpstr>
      <vt:lpstr>竞赛完成阶段4个重要事项 （依次先后去做）</vt:lpstr>
      <vt:lpstr>PowerPoint 演示文稿</vt:lpstr>
    </vt:vector>
  </TitlesOfParts>
  <Company>Beijing Normal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2018年北京赛区工作流程</dc:title>
  <dc:creator>qing he</dc:creator>
  <cp:lastModifiedBy>一缕烟雨任平生</cp:lastModifiedBy>
  <cp:revision>52</cp:revision>
  <dcterms:created xsi:type="dcterms:W3CDTF">2026-09-08T11:10:19Z</dcterms:created>
  <dcterms:modified xsi:type="dcterms:W3CDTF">2026-09-08T11:10:19Z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BB2ECB393904B19806DA9F6AE2982113_43</vt:lpwstr>
  </property>
  <property fmtid="{D5CDD505-2E9C-101B-9397-08002B2CF9AE}" pid="3" name="KSOProductBuildVer">
    <vt:lpwstr>2052-6.10.1.8873</vt:lpwstr>
  </property>
</Properties>
</file>